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1A417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REPUTATION ｜ ALL-IN-ONE PACKAGE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08760"/>
            <a:ext cx="365760" cy="3657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1508760"/>
            <a:ext cx="365760" cy="36576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508760"/>
            <a:ext cx="365760" cy="36576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256" y="1508760"/>
            <a:ext cx="365760" cy="36576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592" y="1508760"/>
            <a:ext cx="365760" cy="365760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1591056"/>
            <a:ext cx="310896" cy="310896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1508760"/>
            <a:ext cx="365760" cy="365760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4216" y="1508760"/>
            <a:ext cx="365760" cy="365760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6552" y="1508760"/>
            <a:ext cx="365760" cy="365760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8888" y="1508760"/>
            <a:ext cx="365760" cy="365760"/>
          </a:xfrm>
          <a:prstGeom prst="rect">
            <a:avLst/>
          </a:prstGeom>
        </p:spPr>
      </p:pic>
      <p:pic>
        <p:nvPicPr>
          <p:cNvPr id="1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21224" y="1508760"/>
            <a:ext cx="365760" cy="365760"/>
          </a:xfrm>
          <a:prstGeom prst="rect">
            <a:avLst/>
          </a:prstGeom>
        </p:spPr>
      </p:pic>
      <p:sp>
        <p:nvSpPr>
          <p:cNvPr id="16" name="Text 3"/>
          <p:cNvSpPr/>
          <p:nvPr/>
        </p:nvSpPr>
        <p:spPr>
          <a:xfrm>
            <a:off x="777240" y="2148840"/>
            <a:ext cx="10789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Googleの評判、まるごとお任せ。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「選ばれ続けるお店」を、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ひとつのパッケージで。</a:t>
            </a:r>
            <a:endParaRPr lang="en-US" sz="3800" dirty="0"/>
          </a:p>
        </p:txBody>
      </p:sp>
      <p:sp>
        <p:nvSpPr>
          <p:cNvPr id="17" name="Text 4"/>
          <p:cNvSpPr/>
          <p:nvPr/>
        </p:nvSpPr>
        <p:spPr>
          <a:xfrm>
            <a:off x="822960" y="48006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悪い口コミ・変なサジェスト・ネットの評判 ——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AIによる口コミ対策サポート、提携弁護士の窓口、公式WEB・LINE・アプリまで。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契約中ずっと使える月額パッケージで、Googleの評判を総合的に改善します。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Google評判 総合コンサルパック　ご提案書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こんな「ネットの評判」のお悩み、ありませんか？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店舗・クリニック・サロン・士業 — Googleやネット検索で集客する事業者さま共通の課題です。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295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83664"/>
            <a:ext cx="566928" cy="566928"/>
          </a:xfrm>
          <a:prstGeom prst="ellipse">
            <a:avLst/>
          </a:prstGeom>
          <a:solidFill>
            <a:srgbClr val="EEF4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116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65376"/>
            <a:ext cx="2386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事実と違う★1を書かれた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505456"/>
            <a:ext cx="3026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来店していない人や誹謗中傷に近い低評価で、店舗の印象が下がっている。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43984" y="1627632"/>
            <a:ext cx="35295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0016" y="1883664"/>
            <a:ext cx="566928" cy="566928"/>
          </a:xfrm>
          <a:prstGeom prst="ellipse">
            <a:avLst/>
          </a:prstGeom>
          <a:solidFill>
            <a:srgbClr val="EEF4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0116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4104" y="1865376"/>
            <a:ext cx="2386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低評価で新規客が減った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18304" y="2505456"/>
            <a:ext cx="3026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★評価を見て来店をやめる人が増え、予約・問い合わせが落ちている。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47888" y="1627632"/>
            <a:ext cx="35295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1883664"/>
            <a:ext cx="566928" cy="566928"/>
          </a:xfrm>
          <a:prstGeom prst="ellipse">
            <a:avLst/>
          </a:prstGeom>
          <a:solidFill>
            <a:srgbClr val="EEF4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01168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08008" y="1865376"/>
            <a:ext cx="2386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変なサジェストが出る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22208" y="2505456"/>
            <a:ext cx="3026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店名で検索すると「店名＋ネガティブな言葉」が候補に出て印象を損ねる。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474720"/>
            <a:ext cx="35295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730752"/>
            <a:ext cx="566928" cy="566928"/>
          </a:xfrm>
          <a:prstGeom prst="ellipse">
            <a:avLst/>
          </a:prstGeom>
          <a:solidFill>
            <a:srgbClr val="EEF4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85876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712464"/>
            <a:ext cx="2386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検索上位にネガティブ情報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4352544"/>
            <a:ext cx="3026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悪い評判の記事やまとめが検索結果の上位に出て、ずっと気になっている。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43984" y="3474720"/>
            <a:ext cx="35295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0016" y="3730752"/>
            <a:ext cx="566928" cy="566928"/>
          </a:xfrm>
          <a:prstGeom prst="ellipse">
            <a:avLst/>
          </a:prstGeom>
          <a:solidFill>
            <a:srgbClr val="EEF4F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85876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04104" y="3712464"/>
            <a:ext cx="2386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良い口コミが集まらない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18304" y="4352544"/>
            <a:ext cx="3026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満足客はいるのに、レビューを書いてもらう仕組みがなく★が増えない。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47888" y="3474720"/>
            <a:ext cx="35295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03920" y="3730752"/>
            <a:ext cx="566928" cy="566928"/>
          </a:xfrm>
          <a:prstGeom prst="ellipse">
            <a:avLst/>
          </a:prstGeom>
          <a:solidFill>
            <a:srgbClr val="EEF4F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3858768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08008" y="3712464"/>
            <a:ext cx="2386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対策する時間も知識もない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22208" y="4352544"/>
            <a:ext cx="3026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日々の営業で手一杯。何から手をつければいいか分からず後回しに。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これ全部、</a:t>
            </a:r>
            <a:pPr algn="ctr" indent="0" marL="0">
              <a:buNone/>
            </a:pPr>
            <a:r>
              <a:rPr lang="en-US" sz="1800" b="1" dirty="0">
                <a:solidFill>
                  <a:srgbClr val="D98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ひとつのパッケージ</a:t>
            </a:r>
            <a:pPr algn="ctr" indent="0" marL="0">
              <a:buNone/>
            </a:pPr>
            <a:r>
              <a:rPr lang="en-US" sz="18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でまとめてお任せできます。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レビューブースト ｜ Google評判 総合コンサルパック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108960"/>
            <a:ext cx="6400800" cy="6400800"/>
          </a:xfrm>
          <a:prstGeom prst="ellipse">
            <a:avLst/>
          </a:prstGeom>
          <a:solidFill>
            <a:srgbClr val="1A4170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私たちの考え方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口コミを「消す」ことが、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ゴールではありません。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削除はあくまで手段。しかも消える保証はありません。私たちが目指すのは、★評価そのものを上げ、</a:t>
            </a:r>
            <a:endParaRPr lang="en-US" sz="15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サジェストや検索結果も整えて「選ばれ続けるお店」になること。だから、消えても・消えなくても前に進めます。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4315A"/>
          </a:solidFill>
          <a:ln w="19050">
            <a:solidFill>
              <a:srgbClr val="5C72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4617720"/>
            <a:ext cx="777240" cy="777240"/>
          </a:xfrm>
          <a:prstGeom prst="ellipse">
            <a:avLst/>
          </a:prstGeom>
          <a:solidFill>
            <a:srgbClr val="5C729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48006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459028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口コミを消す ＝ 手段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148840" y="513892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違反の口コミはAIのサポートでご自身が申請。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通らなければ行き止まりになる「手段」。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425196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4315A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29400" y="4617720"/>
            <a:ext cx="777240" cy="7772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48006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35240" y="459028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評判を上げる ＝ ゴール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635240" y="513892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良い口コミを集め検索結果も整え、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★が積み上がり続ける状態へ。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レビューブースト ｜ Google評判 総合コンサルパック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評判改善に必要なものが、ぜんぶ揃った総合パッケージ。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「対策」も「集客の仕組み」も「守り」も、これひとつ。契約中はずっとご利用いただけます。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1051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9476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92224"/>
            <a:ext cx="23865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口コミ対策サポート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77824" y="2414016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違反の可能性や申請文の書き方をAIが助言。申請はご自身で。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407408" y="1572768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81051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9476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1792224"/>
            <a:ext cx="23865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提携弁護士の窓口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45152" y="2414016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法的対応が必要な事案は提携弁護士へおつなぎ。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174736" y="1572768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81051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476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89136" y="1792224"/>
            <a:ext cx="23865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口コミ獲得・評判改善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12480" y="2414016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レビュー導線づくりとMEOで★が貯まる状態に。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640080" y="3191256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77824" y="34290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5661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410712"/>
            <a:ext cx="15636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公式WEBサイト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3145536" y="342900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4" name="Text 18"/>
          <p:cNvSpPr/>
          <p:nvPr/>
        </p:nvSpPr>
        <p:spPr>
          <a:xfrm>
            <a:off x="3145536" y="342900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契約中 無料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877824" y="4032504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店舗の魅力を伝える公式サイトを制作・運用。</a:t>
            </a:r>
            <a:endParaRPr lang="en-US" sz="1030" dirty="0"/>
          </a:p>
        </p:txBody>
      </p:sp>
      <p:sp>
        <p:nvSpPr>
          <p:cNvPr id="26" name="Shape 20"/>
          <p:cNvSpPr/>
          <p:nvPr/>
        </p:nvSpPr>
        <p:spPr>
          <a:xfrm>
            <a:off x="4407408" y="3191256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45152" y="34290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6C755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356616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21808" y="3410712"/>
            <a:ext cx="15636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公式LINE ＋ マーケ導線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6912864" y="342900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1" name="Text 24"/>
          <p:cNvSpPr/>
          <p:nvPr/>
        </p:nvSpPr>
        <p:spPr>
          <a:xfrm>
            <a:off x="6912864" y="342900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契約中 無料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4645152" y="4032504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登録→来店→口コミ依頼までの導線を設計・運用。</a:t>
            </a:r>
            <a:endParaRPr lang="en-US" sz="1030" dirty="0"/>
          </a:p>
        </p:txBody>
      </p:sp>
      <p:sp>
        <p:nvSpPr>
          <p:cNvPr id="33" name="Shape 26"/>
          <p:cNvSpPr/>
          <p:nvPr/>
        </p:nvSpPr>
        <p:spPr>
          <a:xfrm>
            <a:off x="8174736" y="3191256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412480" y="34290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35661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089136" y="3410712"/>
            <a:ext cx="15636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店舗アプリ（iOS / Android）</a:t>
            </a:r>
            <a:endParaRPr lang="en-US" sz="1350" dirty="0"/>
          </a:p>
        </p:txBody>
      </p:sp>
      <p:sp>
        <p:nvSpPr>
          <p:cNvPr id="37" name="Shape 29"/>
          <p:cNvSpPr/>
          <p:nvPr/>
        </p:nvSpPr>
        <p:spPr>
          <a:xfrm>
            <a:off x="10680192" y="342900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8" name="Text 30"/>
          <p:cNvSpPr/>
          <p:nvPr/>
        </p:nvSpPr>
        <p:spPr>
          <a:xfrm>
            <a:off x="10680192" y="342900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契約中 無料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8412480" y="4032504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再来店を促す自社アプリでリピーターを囲い込む。</a:t>
            </a:r>
            <a:endParaRPr lang="en-US" sz="1030" dirty="0"/>
          </a:p>
        </p:txBody>
      </p:sp>
      <p:sp>
        <p:nvSpPr>
          <p:cNvPr id="40" name="Shape 32"/>
          <p:cNvSpPr/>
          <p:nvPr/>
        </p:nvSpPr>
        <p:spPr>
          <a:xfrm>
            <a:off x="640080" y="4809744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77824" y="504748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" y="5184648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554480" y="5029200"/>
            <a:ext cx="23865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口コミカード</a:t>
            </a:r>
            <a:endParaRPr lang="en-US" sz="1350" dirty="0"/>
          </a:p>
        </p:txBody>
      </p:sp>
      <p:sp>
        <p:nvSpPr>
          <p:cNvPr id="44" name="Text 35"/>
          <p:cNvSpPr/>
          <p:nvPr/>
        </p:nvSpPr>
        <p:spPr>
          <a:xfrm>
            <a:off x="877824" y="5650992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かざすだけで口コミツールが起動。投稿率アップ。</a:t>
            </a:r>
            <a:endParaRPr lang="en-US" sz="1030" dirty="0"/>
          </a:p>
        </p:txBody>
      </p:sp>
      <p:sp>
        <p:nvSpPr>
          <p:cNvPr id="45" name="Shape 36"/>
          <p:cNvSpPr/>
          <p:nvPr/>
        </p:nvSpPr>
        <p:spPr>
          <a:xfrm>
            <a:off x="4407408" y="4809744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4645152" y="504748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F2C4D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2312" y="5184648"/>
            <a:ext cx="274320" cy="27432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321808" y="5029200"/>
            <a:ext cx="23865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サジェスト対策</a:t>
            </a:r>
            <a:endParaRPr lang="en-US" sz="1350" dirty="0"/>
          </a:p>
        </p:txBody>
      </p:sp>
      <p:sp>
        <p:nvSpPr>
          <p:cNvPr id="49" name="Text 39"/>
          <p:cNvSpPr/>
          <p:nvPr/>
        </p:nvSpPr>
        <p:spPr>
          <a:xfrm>
            <a:off x="4645152" y="5650992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ネガティブな検索候補の改善に取り組む（上位プラン）。</a:t>
            </a:r>
            <a:endParaRPr lang="en-US" sz="1030" dirty="0"/>
          </a:p>
        </p:txBody>
      </p:sp>
      <p:sp>
        <p:nvSpPr>
          <p:cNvPr id="50" name="Shape 40"/>
          <p:cNvSpPr/>
          <p:nvPr/>
        </p:nvSpPr>
        <p:spPr>
          <a:xfrm>
            <a:off x="8174736" y="4809744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8412480" y="504748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0" y="5184648"/>
            <a:ext cx="274320" cy="27432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9089136" y="5029200"/>
            <a:ext cx="23865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逆SEO 押し下げパック</a:t>
            </a:r>
            <a:endParaRPr lang="en-US" sz="1350" dirty="0"/>
          </a:p>
        </p:txBody>
      </p:sp>
      <p:sp>
        <p:nvSpPr>
          <p:cNvPr id="54" name="Text 43"/>
          <p:cNvSpPr/>
          <p:nvPr/>
        </p:nvSpPr>
        <p:spPr>
          <a:xfrm>
            <a:off x="8412480" y="5650992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ネガティブな表示を相対的に下位へ（上位プラン）。</a:t>
            </a:r>
            <a:endParaRPr lang="en-US" sz="1030" dirty="0"/>
          </a:p>
        </p:txBody>
      </p:sp>
      <p:sp>
        <p:nvSpPr>
          <p:cNvPr id="55" name="Text 4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レビューブースト ｜ Google評判 総合コンサルパック</a:t>
            </a:r>
            <a:endParaRPr lang="en-US" sz="900" dirty="0"/>
          </a:p>
        </p:txBody>
      </p:sp>
      <p:sp>
        <p:nvSpPr>
          <p:cNvPr id="56" name="Text 45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強みは「LINE × 口コミ」の循環。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ただLINEを作るだけではありません。来店からリピート、口コミ獲得までを“仕組み”で回します。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160520"/>
          </a:xfrm>
          <a:prstGeom prst="roundRect">
            <a:avLst>
              <a:gd name="adj" fmla="val 2198"/>
            </a:avLst>
          </a:prstGeom>
          <a:solidFill>
            <a:srgbClr val="06C755"/>
          </a:solidFill>
          <a:ln/>
          <a:effectLst>
            <a:outerShdw sx="100000" sy="100000" kx="0" ky="0" algn="bl" rotWithShape="0" blurRad="114300" dist="38100" dir="5400000">
              <a:srgbClr val="0F2C4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0" y="868680"/>
            <a:ext cx="2926080" cy="29260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4884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LINEを使った評判アップの循環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3000" y="27432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良い体験を、自然と「★」に変える導線を設計・運用します。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97280" y="3291840"/>
            <a:ext cx="2487168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25880" y="349300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FF7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325880" y="382219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LINE登録を促す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325880" y="438912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来店時やWEB・アプリから公式LINEへ。お得情報でファン化。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4160520"/>
            <a:ext cx="237744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749040" y="3291840"/>
            <a:ext cx="2487168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977640" y="349300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FF7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977640" y="382219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来店・再来店を促進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977640" y="438912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クーポンや通知で再来店を後押し。リピーターを増やす。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4160520"/>
            <a:ext cx="237744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00800" y="3291840"/>
            <a:ext cx="2487168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29400" y="349300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FF7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629400" y="382219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満足客に口コミ依頼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629400" y="438912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満足したタイミングでLINEから口コミ投稿を自然にお願い。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2" y="4160520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052560" y="3291840"/>
            <a:ext cx="2487168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281160" y="349300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FF7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281160" y="382219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不満は先に拾う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281160" y="438912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不満はLINEで受け止め店内で解決。低評価を未然に防止。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レビューブースト ｜ Google評判 総合コンサルパック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6858000" cy="6858000"/>
          </a:xfrm>
          <a:prstGeom prst="ellipse">
            <a:avLst/>
          </a:prstGeom>
          <a:solidFill>
            <a:srgbClr val="0E74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｜ 全プラン共通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困ったら、いつでもAIに相談。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専門知識ゼロでも、迷わない。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ご契約者さまには、24時間つかえる専用のAIサポートをご用意。口コミへの返信文、申請の進め方、次の打ち手まで、チャットで質問すればすぐに分かりやすく答えます。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4114800"/>
            <a:ext cx="310896" cy="31089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4178808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40507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全プラン共通・追加料金なしでご利用可能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41248" y="4681728"/>
            <a:ext cx="310896" cy="31089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4745736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4617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口コミ返信の文案づくり・申請のやり方も即サポート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41248" y="5248656"/>
            <a:ext cx="310896" cy="31089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3126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518464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難しい操作や専門用語も、かみくだいて説明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635240" y="1234440"/>
            <a:ext cx="3886200" cy="4846320"/>
          </a:xfrm>
          <a:prstGeom prst="roundRect">
            <a:avLst>
              <a:gd name="adj" fmla="val 2353"/>
            </a:avLst>
          </a:prstGeom>
          <a:solidFill>
            <a:srgbClr val="12345A"/>
          </a:solidFill>
          <a:ln w="12700">
            <a:solidFill>
              <a:srgbClr val="2C5E7A"/>
            </a:solidFill>
            <a:prstDash val="solid"/>
          </a:ln>
          <a:effectLst>
            <a:outerShdw sx="100000" sy="100000" kx="0" ky="0" algn="bl" rotWithShape="0" blurRad="114300" dist="38100" dir="5400000">
              <a:srgbClr val="0F2C4D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955280" y="1554480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69164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95360" y="154533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レビューブースト AIサポート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595360" y="183794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オンライン｜24時間対応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7909560" y="2258568"/>
            <a:ext cx="3337560" cy="0"/>
          </a:xfrm>
          <a:prstGeom prst="line">
            <a:avLst/>
          </a:prstGeom>
          <a:noFill/>
          <a:ln w="12700">
            <a:solidFill>
              <a:srgbClr val="2C5E7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641080" y="2441448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/>
        </p:spPr>
      </p:sp>
      <p:sp>
        <p:nvSpPr>
          <p:cNvPr id="22" name="Text 16"/>
          <p:cNvSpPr/>
          <p:nvPr/>
        </p:nvSpPr>
        <p:spPr>
          <a:xfrm>
            <a:off x="8823960" y="2514600"/>
            <a:ext cx="2240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★1で「対応が遅い」と書かれました。どう返信すれば？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955280" y="3209544"/>
            <a:ext cx="2560320" cy="841248"/>
          </a:xfrm>
          <a:prstGeom prst="roundRect">
            <a:avLst>
              <a:gd name="adj" fmla="val 13043"/>
            </a:avLst>
          </a:prstGeom>
          <a:solidFill>
            <a:srgbClr val="EAF1FA"/>
          </a:solidFill>
          <a:ln/>
        </p:spPr>
      </p:sp>
      <p:sp>
        <p:nvSpPr>
          <p:cNvPr id="24" name="Text 18"/>
          <p:cNvSpPr/>
          <p:nvPr/>
        </p:nvSpPr>
        <p:spPr>
          <a:xfrm>
            <a:off x="8138160" y="3282696"/>
            <a:ext cx="2240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</a:t>
            </a:r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感謝とお詫び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を伝え、改善策を簡潔に。返信文の例を3パターン作りますね。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641080" y="4178808"/>
            <a:ext cx="2560320" cy="502920"/>
          </a:xfrm>
          <a:prstGeom prst="roundRect">
            <a:avLst>
              <a:gd name="adj" fmla="val 21818"/>
            </a:avLst>
          </a:prstGeom>
          <a:solidFill>
            <a:srgbClr val="2563EB"/>
          </a:solidFill>
          <a:ln/>
        </p:spPr>
      </p:sp>
      <p:sp>
        <p:nvSpPr>
          <p:cNvPr id="26" name="Text 20"/>
          <p:cNvSpPr/>
          <p:nvPr/>
        </p:nvSpPr>
        <p:spPr>
          <a:xfrm>
            <a:off x="8823960" y="4251960"/>
            <a:ext cx="22402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この口コミ、ガイドライン違反で消せそう？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955280" y="4818888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EAF1FA"/>
          </a:solidFill>
          <a:ln/>
        </p:spPr>
      </p:sp>
      <p:sp>
        <p:nvSpPr>
          <p:cNvPr id="28" name="Text 22"/>
          <p:cNvSpPr/>
          <p:nvPr/>
        </p:nvSpPr>
        <p:spPr>
          <a:xfrm>
            <a:off x="8138160" y="4892040"/>
            <a:ext cx="22402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第三者の投稿の可能性があり、</a:t>
            </a:r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違反として申請できる余地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が。手順をご案内します（申請はご自身で）。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レビューブースト ｜ Google評判 総合コンサルパック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料金プラン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守備範囲に合わせて3プラン。束ねるほど割安です。まずは無料診断からどうぞ。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217627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26974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まずは評判改善と集客基盤から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3154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algn="l" indent="0" marL="0">
              <a:buNone/>
            </a:pPr>
            <a:r>
              <a:rPr lang="en-US" sz="130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万円／月〜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24128" y="3694176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（税別・契約期間中）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24128" y="3986784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4178808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16736" y="4105656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契約者専用 AIサポート（24時間）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54456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16736" y="4471416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口コミ獲得・評判改善コンサル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910328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16736" y="4837176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Googleプロフィール最適化（MEO）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276088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16736" y="5202936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公式WEB（契約中 無料）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5641848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16736" y="5568696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公式LINE＋マーケ導線（契約中 無料）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4572000" y="1719072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31750">
            <a:solidFill>
              <a:srgbClr val="F5A623"/>
            </a:solidFill>
            <a:prstDash val="solid"/>
          </a:ln>
          <a:effectLst>
            <a:outerShdw sx="100000" sy="100000" kx="0" ky="0" algn="bl" rotWithShape="0" blurRad="114300" dist="38100" dir="5400000">
              <a:srgbClr val="0F2C4D">
                <a:alpha val="16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052060" y="1517904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5052060" y="151790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いちばん選ばれています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937760" y="206654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4937760" y="258775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口コミ対策と集客をまとめて強化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937760" y="3044952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algn="l" indent="0" marL="0">
              <a:buNone/>
            </a:pPr>
            <a:r>
              <a:rPr lang="en-US" sz="130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万円／月〜</a:t>
            </a:r>
            <a:endParaRPr lang="en-US" sz="3600" dirty="0"/>
          </a:p>
        </p:txBody>
      </p:sp>
      <p:sp>
        <p:nvSpPr>
          <p:cNvPr id="26" name="Text 19"/>
          <p:cNvSpPr/>
          <p:nvPr/>
        </p:nvSpPr>
        <p:spPr>
          <a:xfrm>
            <a:off x="4937760" y="3584448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（税別・契約期間中）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937760" y="3877056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06908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30368" y="399592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Lightの内容すべて</a:t>
            </a:r>
            <a:endParaRPr lang="en-US" sz="11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434840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230368" y="4361688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口コミ対策サポート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800600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230368" y="4727448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店舗アプリ iOS/Android（契約中 無料）</a:t>
            </a:r>
            <a:endParaRPr lang="en-US" sz="11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5166360"/>
            <a:ext cx="182880" cy="18288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230368" y="5093208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LINEマーケ導線の運用代行</a:t>
            </a:r>
            <a:endParaRPr lang="en-US" sz="11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5532120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230368" y="5458968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提携弁護士の窓口ご案内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8485632" y="182880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Text 27"/>
          <p:cNvSpPr/>
          <p:nvPr/>
        </p:nvSpPr>
        <p:spPr>
          <a:xfrm>
            <a:off x="8851392" y="217627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200" dirty="0"/>
          </a:p>
        </p:txBody>
      </p:sp>
      <p:sp>
        <p:nvSpPr>
          <p:cNvPr id="40" name="Text 28"/>
          <p:cNvSpPr/>
          <p:nvPr/>
        </p:nvSpPr>
        <p:spPr>
          <a:xfrm>
            <a:off x="8851392" y="26974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ネット評判リスクをまるごと防衛</a:t>
            </a:r>
            <a:endParaRPr lang="en-US" sz="1100" dirty="0"/>
          </a:p>
        </p:txBody>
      </p:sp>
      <p:sp>
        <p:nvSpPr>
          <p:cNvPr id="41" name="Text 29"/>
          <p:cNvSpPr/>
          <p:nvPr/>
        </p:nvSpPr>
        <p:spPr>
          <a:xfrm>
            <a:off x="8851392" y="3154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要</a:t>
            </a:r>
            <a:pPr algn="l" indent="0" marL="0">
              <a:buNone/>
            </a:pPr>
            <a:r>
              <a:rPr lang="en-US" sz="130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お見積り</a:t>
            </a:r>
            <a:endParaRPr lang="en-US" sz="3600" dirty="0"/>
          </a:p>
        </p:txBody>
      </p:sp>
      <p:sp>
        <p:nvSpPr>
          <p:cNvPr id="42" name="Text 30"/>
          <p:cNvSpPr/>
          <p:nvPr/>
        </p:nvSpPr>
        <p:spPr>
          <a:xfrm>
            <a:off x="8851392" y="3694176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（税別・契約期間中）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8851392" y="3986784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1392" y="4178808"/>
            <a:ext cx="182880" cy="18288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9144000" y="4105656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Standardの内容すべて</a:t>
            </a:r>
            <a:endParaRPr lang="en-US" sz="115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1392" y="4544568"/>
            <a:ext cx="182880" cy="18288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9144000" y="4471416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サジェスト対策</a:t>
            </a:r>
            <a:endParaRPr lang="en-US" sz="110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51392" y="4910328"/>
            <a:ext cx="182880" cy="18288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9144000" y="4837176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逆SEO 押し下げパック</a:t>
            </a:r>
            <a:endParaRPr lang="en-US" sz="1100" dirty="0"/>
          </a:p>
        </p:txBody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51392" y="5276088"/>
            <a:ext cx="182880" cy="182880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9144000" y="5202936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提携弁護士の優先窓口</a:t>
            </a:r>
            <a:endParaRPr lang="en-US" sz="1100" dirty="0"/>
          </a:p>
        </p:txBody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1392" y="5641848"/>
            <a:ext cx="182880" cy="182880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9144000" y="5568696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専任担当の手厚いサポート</a:t>
            </a:r>
            <a:endParaRPr lang="en-US" sz="1100" dirty="0"/>
          </a:p>
        </p:txBody>
      </p:sp>
      <p:sp>
        <p:nvSpPr>
          <p:cNvPr id="54" name="Text 37"/>
          <p:cNvSpPr/>
          <p:nvPr/>
        </p:nvSpPr>
        <p:spPr>
          <a:xfrm>
            <a:off x="658368" y="6089904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金額は目安です。店舗数・口コミの状況により最適なプランをご提案します。サジェスト・逆SEO・口コミ削除はいずれも結果を保証するものではありません。</a:t>
            </a:r>
            <a:endParaRPr lang="en-US" sz="950" dirty="0"/>
          </a:p>
        </p:txBody>
      </p:sp>
      <p:sp>
        <p:nvSpPr>
          <p:cNvPr id="55" name="Text 3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レビューブースト ｜ Google評判 総合コンサルパック</a:t>
            </a:r>
            <a:endParaRPr lang="en-US" sz="900" dirty="0"/>
          </a:p>
        </p:txBody>
      </p:sp>
      <p:sp>
        <p:nvSpPr>
          <p:cNvPr id="56" name="Text 39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ご相談から改善までの流れ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まずは無料診断から。継続的な改善で「選ばれ続けるお店」へ。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97480" cy="36576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2697480" cy="1188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1604772" y="2286000"/>
            <a:ext cx="768096" cy="768096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4772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3291840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402336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無料の評判診断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1248" y="4572000"/>
            <a:ext cx="2295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口コミ・★評価・サジェスト・検索結果を診断。改善点を無料でお伝えします。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3383280"/>
            <a:ext cx="310896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93592" y="1874520"/>
            <a:ext cx="2697480" cy="36576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93592" y="1874520"/>
            <a:ext cx="2697480" cy="1188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0"/>
          <p:cNvSpPr/>
          <p:nvPr/>
        </p:nvSpPr>
        <p:spPr>
          <a:xfrm>
            <a:off x="4558284" y="2286000"/>
            <a:ext cx="768096" cy="768096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558284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3291840"/>
            <a:ext cx="585216" cy="585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58184" y="402336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プランのご提案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794760" y="4572000"/>
            <a:ext cx="2295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お店の状況とご予算に合わせ最適なプランをご提案。ご納得後にスタート。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383280"/>
            <a:ext cx="310896" cy="31089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547104" y="1874520"/>
            <a:ext cx="2697480" cy="36576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47104" y="1874520"/>
            <a:ext cx="2697480" cy="1188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Shape 16"/>
          <p:cNvSpPr/>
          <p:nvPr/>
        </p:nvSpPr>
        <p:spPr>
          <a:xfrm>
            <a:off x="7511796" y="2286000"/>
            <a:ext cx="768096" cy="768096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7511796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236" y="3291840"/>
            <a:ext cx="585216" cy="58521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11696" y="402336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基盤づくり＆対策開始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6748272" y="4572000"/>
            <a:ext cx="2295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WEB・LINE・アプリを整え、口コミ獲得の仕組みを導入。各窓口も利用開始。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7152" y="3383280"/>
            <a:ext cx="310896" cy="31089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500616" y="1874520"/>
            <a:ext cx="2697480" cy="36576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9500616" y="1874520"/>
            <a:ext cx="2697480" cy="118872"/>
          </a:xfrm>
          <a:prstGeom prst="rect">
            <a:avLst/>
          </a:prstGeom>
          <a:solidFill>
            <a:srgbClr val="D98E0B"/>
          </a:solidFill>
          <a:ln/>
        </p:spPr>
      </p:sp>
      <p:sp>
        <p:nvSpPr>
          <p:cNvPr id="30" name="Shape 22"/>
          <p:cNvSpPr/>
          <p:nvPr/>
        </p:nvSpPr>
        <p:spPr>
          <a:xfrm>
            <a:off x="10465308" y="2286000"/>
            <a:ext cx="768096" cy="768096"/>
          </a:xfrm>
          <a:prstGeom prst="ellipse">
            <a:avLst/>
          </a:prstGeom>
          <a:solidFill>
            <a:srgbClr val="D98E0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3"/>
          <p:cNvSpPr/>
          <p:nvPr/>
        </p:nvSpPr>
        <p:spPr>
          <a:xfrm>
            <a:off x="10465308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6748" y="3291840"/>
            <a:ext cx="585216" cy="58521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665208" y="402336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毎月の改善サポート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9701784" y="4572000"/>
            <a:ext cx="2295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★評価や評判の推移をレポート。お役立ち情報の配信で評判を磨き続けます。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レビューブースト ｜ Google評判 総合コンサルパック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安心してお任せいただける「役割分担」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私たちは「削除の代行」はいたしません。役割を分けることで、安心・適法にご支援します。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24028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47802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32918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AIは“やり方”を支援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24128" y="37947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ガイドライン違反の可能性や申請フォームの書き方をAIが助言。実際の削除申請はお客様ご自身で行っていただきます。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0" y="187452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240280"/>
            <a:ext cx="868680" cy="8686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2478024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32918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法的対応は提携弁護士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937760" y="37947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権利侵害や悪質な誹謗中傷など、法律事務が必要な事案は提携弁護士の窓口へ。専門家が対応します。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485632" y="187452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851392" y="224028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36" y="2478024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51392" y="32918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私たちは評判改善に専念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851392" y="37947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口コミ獲得・MEO・WEB・LINE・アプリなど、評判を上げる施策に集中。長期的に「強いお店」をつくります。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58368" y="4892040"/>
            <a:ext cx="10835640" cy="1051560"/>
          </a:xfrm>
          <a:prstGeom prst="roundRect">
            <a:avLst>
              <a:gd name="adj" fmla="val 8696"/>
            </a:avLst>
          </a:prstGeom>
          <a:solidFill>
            <a:srgbClr val="EEF4FB"/>
          </a:solidFill>
          <a:ln w="12700">
            <a:solidFill>
              <a:srgbClr val="C9DBF1"/>
            </a:solidFill>
            <a:prstDash val="dash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19379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50292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社は口コミの削除申請を代行するものではなく、お客様ご自身による申請をAI等で支援するサービスです。法的対応が必要な事案は提携弁護士をご案内します。口コミ削除・サジェスト改善・検索順位はGoogle等の判断や仕様によるもので、結果を保証するものではありません。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レビューブースト ｜ Google評判 総合コンサルパック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377440"/>
            <a:ext cx="7315200" cy="73152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097280"/>
            <a:ext cx="457200" cy="4572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696" y="1097280"/>
            <a:ext cx="457200" cy="457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1097280"/>
            <a:ext cx="457200" cy="4572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097280"/>
            <a:ext cx="457200" cy="45720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024" y="1097280"/>
            <a:ext cx="457200" cy="4572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まずは「無料の評判診断」から。</a:t>
            </a:r>
            <a:endParaRPr lang="en-US" sz="3400" dirty="0"/>
          </a:p>
        </p:txBody>
      </p:sp>
      <p:sp>
        <p:nvSpPr>
          <p:cNvPr id="9" name="Text 2"/>
          <p:cNvSpPr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しつこい営業はいたしません。口コミ・サジェスト・検索結果の状況を、無料で診断いたします。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「消す」ためではなく、「選ばれ続ける」ために。一緒に評判を育てましょう。</a:t>
            </a:r>
            <a:endParaRPr lang="en-US" sz="1600" dirty="0"/>
          </a:p>
        </p:txBody>
      </p:sp>
      <p:sp>
        <p:nvSpPr>
          <p:cNvPr id="10" name="Shape 3"/>
          <p:cNvSpPr/>
          <p:nvPr/>
        </p:nvSpPr>
        <p:spPr>
          <a:xfrm>
            <a:off x="4160520" y="4206240"/>
            <a:ext cx="3840480" cy="777240"/>
          </a:xfrm>
          <a:prstGeom prst="roundRect">
            <a:avLst>
              <a:gd name="adj" fmla="val 49412"/>
            </a:avLst>
          </a:prstGeom>
          <a:solidFill>
            <a:srgbClr val="F5A623"/>
          </a:solidFill>
          <a:ln/>
          <a:effectLst>
            <a:outerShdw sx="100000" sy="100000" kx="0" ky="0" algn="bl" rotWithShape="0" blurRad="114300" dist="38100" dir="5400000">
              <a:srgbClr val="0F2C4D">
                <a:alpha val="16000"/>
              </a:srgbClr>
            </a:outerShdw>
          </a:effectLst>
        </p:spPr>
      </p:sp>
      <p:sp>
        <p:nvSpPr>
          <p:cNvPr id="11" name="Text 4"/>
          <p:cNvSpPr/>
          <p:nvPr/>
        </p:nvSpPr>
        <p:spPr>
          <a:xfrm>
            <a:off x="4160520" y="42062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無料で評判診断を申し込む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B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レビューブースト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1097280" y="61722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E7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当社は口コミの削除申請を代行するものではなく、ご自身の申請をAI等で支援するサービスです。法的対応が必要な事案は提携弁護士をご案内します。各施策の結果を保証するものではありません。Google LLCとは関係ありません。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Google評判 総合コンサルパック ご提案書</dc:title>
  <dc:subject>PptxGenJS Presentation</dc:subject>
  <dc:creator>レビューブースト</dc:creator>
  <cp:lastModifiedBy>レビューブースト</cp:lastModifiedBy>
  <cp:revision>1</cp:revision>
  <dcterms:created xsi:type="dcterms:W3CDTF">2026-05-26T07:29:46Z</dcterms:created>
  <dcterms:modified xsi:type="dcterms:W3CDTF">2026-05-26T07:29:46Z</dcterms:modified>
</cp:coreProperties>
</file>